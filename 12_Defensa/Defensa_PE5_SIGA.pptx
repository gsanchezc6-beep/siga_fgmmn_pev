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sistema y el propósito de la unidad: auditar, trazar, especificar IA y defender. 30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Insistir: cada viñeta viene de una transcripción real, no de una lluvia de ideas.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fuera de alcance está declarado como restricciones de diseño, no como una lista informal.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rondas de campo: la primera define el núcleo, la segunda lo corrige. Por eso el proceso fue incremental y no cascada.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preguntan por la versión: la 4.0 consolida todos los cambios de PE1 a PE5, con fecha y commit declarados en el historial de versiones.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Ambos artefactos no son adorno: cada uno cierra un hueco que la auditoría midió.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preguntan cuál se les escapó: D-01, sobrevivió tres versiones del ERS porque nunca hubo inspección.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Ojo con M6 = 0,00: significa cero residuales DE LOS REGISTRADOS. Falta una re-inspección independiente. Decirlo antes de que lo pregunten.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diapositiva donde se demuestra el criterio de ingeniería, no solo el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preguntan qué pasa cuando el modelo se equivoca: ninguna acción irreversible, siempre hay humano en el bucle.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qué se numera 17 y no 16: RNF-16 ya existía y trata la disponibilidad sin conectividad, con evidencia de campo propia (EV-15).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cuatro son las que el tribunal puede repreguntar; cada una tiene un artefacto detrás.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Reconocer límites suma en la rúbrica: el indicador «reconocimiento de límites» se evalúa explícitamente.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Anclar cada respuesta en un artefacto concreto. El banco de 22 respuestas está en 12_Defensa/banco_respuestas_tribunal.md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6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SIGA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640080" y="2651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7BC62"/>
                </a:solidFill>
              </a:rPr>
              <a:t>Sistema Inteligente de Gestión de Aulas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Cierre del Proyecto Integrador · Unidad V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66344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Equipo FGMMN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Sánchez Cornejo · Muñoz Quiñonez · Cedeño Avila · Mendoza Palma · Gilces Carranza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Ingeniería de Requerimientos (ISR-401) · Universidad Técnica Estatal de Quevedo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7BC62"/>
                </a:solidFill>
              </a:rPr>
              <a:t>github.com/gsanchezc6-beep/SIGA_FGMMN_PEV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6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</a:rPr>
              <a:t>La gestión de aulas de la Facultad es manual: climatización, proyectores, conectividad y mantenimiento.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075688"/>
            <a:ext cx="438912" cy="438912"/>
          </a:xfrm>
          <a:prstGeom prst="ellipse">
            <a:avLst/>
          </a:prstGeom>
          <a:solidFill>
            <a:srgbClr val="1D6B36"/>
          </a:solidFill>
          <a:ln w="12700">
            <a:solidFill>
              <a:srgbClr val="1D6B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075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54480" y="2002536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</a:rPr>
              <a:t>Una sola persona recorre el edificio apagando equipos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54480" y="23317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</a:rPr>
              <a:t>Evidencia de campo: EV-01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83464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3035808"/>
            <a:ext cx="438912" cy="438912"/>
          </a:xfrm>
          <a:prstGeom prst="ellipse">
            <a:avLst/>
          </a:prstGeom>
          <a:solidFill>
            <a:srgbClr val="1D6B36"/>
          </a:solidFill>
          <a:ln w="12700">
            <a:solidFill>
              <a:srgbClr val="1D6B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0358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54480" y="2962656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</a:rPr>
              <a:t>15 a 30 minutos de clase perdidos por falla no resuelta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54480" y="3291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</a:rPr>
              <a:t>Evidencia de campo: EV-12 · DOC-01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" y="3995928"/>
            <a:ext cx="438912" cy="438912"/>
          </a:xfrm>
          <a:prstGeom prst="ellipse">
            <a:avLst/>
          </a:prstGeom>
          <a:solidFill>
            <a:srgbClr val="1D6B36"/>
          </a:solidFill>
          <a:ln w="12700">
            <a:solidFill>
              <a:srgbClr val="1D6B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9959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54480" y="3922776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</a:rPr>
              <a:t>El cruce de horarios se hace comparando dos ventanas a mano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54480" y="4251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</a:rPr>
              <a:t>Evidencia de campo: EV-10 · COORD-02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75488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" y="4956048"/>
            <a:ext cx="438912" cy="438912"/>
          </a:xfrm>
          <a:prstGeom prst="ellipse">
            <a:avLst/>
          </a:prstGeom>
          <a:solidFill>
            <a:srgbClr val="1D6B36"/>
          </a:solidFill>
          <a:ln w="12700">
            <a:solidFill>
              <a:srgbClr val="1D6B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4956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54480" y="4882896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</a:rPr>
              <a:t>La mayoría de las aulas no tiene internet estable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554480" y="52120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</a:rPr>
              <a:t>Evidencia de campo: EV-15 · DOC-03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D6B36"/>
                </a:solidFill>
              </a:rPr>
              <a:t>11 entrevistas de campo transcritas sustentan estos hallazgos, no una suposición de diseño.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6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sistema y sus partes interesadas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</a:rPr>
              <a:t>SIGA monitorea condiciones ambientales y ocupación con sensores IoT, controla proyectores y climatización de forma remota, genera alertas, gestiona tickets y analiza el consumo con dos componentes de IA.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303520" cy="3566160"/>
          </a:xfrm>
          <a:prstGeom prst="roundRect">
            <a:avLst>
              <a:gd name="adj" fmla="val 2051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194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6B36"/>
                </a:solidFill>
              </a:rPr>
              <a:t>9 actores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265176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2B2B2B"/>
                </a:solidFill>
              </a:rPr>
              <a:t>5 humanos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B2B2B"/>
                </a:solidFill>
              </a:rPr>
              <a:t>Infraestructura · TI · Docente · Administrativo · Autoridades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2B2B2B"/>
                </a:solidFill>
              </a:rPr>
              <a:t>4 de sistema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B2B2B"/>
                </a:solidFill>
              </a:rPr>
              <a:t>Gateway IoT · Videovigilancia · Horario Académico · Notificaciones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201168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F3E9DC"/>
          </a:solidFill>
          <a:ln w="12700">
            <a:solidFill>
              <a:srgbClr val="F3E9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791A"/>
                </a:solidFill>
              </a:rPr>
              <a:t>Fuera de alcance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720840" y="269748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</a:rPr>
              <a:t>No reemplaza la videovigilancia (RD-05)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</a:rPr>
              <a:t>No gestiona matrícula ni calificaciones (RD-16)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</a:rPr>
              <a:t>No controla la red eléctrica del campus (RD-18)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</a:rPr>
              <a:t>No hace mantenimiento físico (RD-17)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6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proceso: de PE1 a PE5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737360"/>
                <a:gridCol w="7772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Entrega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Fecha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B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1A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30/05/2026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Dominio, alcance y partes interesadas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1B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05/07/2026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ERS parcial: 23 RF, 6 RNF, 16 CU. Nota 9,70/10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2A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02/08/2026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ERS completo, UML, MoSCoW+Kano+WSJF, MVP, componente empírico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2B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en curso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Manuscrito de publicación y dataset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</a:rPr>
                        <a:t>PE5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</a:rPr>
                        <a:t>22/08/2026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</a:rPr>
                        <a:t>Auditoría, trazabilidad end-to-end, requisitos de IA, ERS v4.0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6634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</a:rPr>
              <a:t>Marco normativo: ISO/IEC/IEEE 29148:2018 · ISO/IEC 25010:2023 · ISO/IEC/IEEE 15288:2023 · LOPDP Ecuador · Reglamento (UE) 2024/1689 como referencia.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6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ERS: estructura y requisitos clave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791A"/>
                </a:solidFill>
              </a:rPr>
              <a:t>Versión 4.0 · 22 de agosto de 2026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1051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6B36"/>
                </a:solidFill>
              </a:rPr>
              <a:t>25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6E"/>
                </a:solidFill>
              </a:rPr>
              <a:t>RF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9736" y="169164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9736" y="181051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6B36"/>
                </a:solidFill>
              </a:rPr>
              <a:t>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459736" y="2377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6E"/>
                </a:solidFill>
              </a:rPr>
              <a:t>RF de IA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79392" y="169164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79392" y="181051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6B36"/>
                </a:solidFill>
              </a:rPr>
              <a:t>17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279392" y="2377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6E"/>
                </a:solidFill>
              </a:rPr>
              <a:t>RNF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99048" y="169164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9048" y="181051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6B36"/>
                </a:solidFill>
              </a:rPr>
              <a:t>18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099048" y="2377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6E"/>
                </a:solidFill>
              </a:rPr>
              <a:t>restricciones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18704" y="169164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18704" y="181051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6B36"/>
                </a:solidFill>
              </a:rPr>
              <a:t>17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7918704" y="2377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6E"/>
                </a:solidFill>
              </a:rPr>
              <a:t>casos de uso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738360" y="169164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38360" y="181051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6B36"/>
                </a:solidFill>
              </a:rPr>
              <a:t>17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9738360" y="2377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6E"/>
                </a:solidFill>
              </a:rPr>
              <a:t>historias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2004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3649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6B36"/>
                </a:solidFill>
              </a:rPr>
              <a:t>Prioridad MoSCoW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68680" y="3749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</a:rPr>
              <a:t>17 Must · 8 Should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68680" y="42062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</a:rPr>
              <a:t>Consolidada en un único archivo tras cerrar la contradicción D-01.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43400" y="32004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33649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6B36"/>
                </a:solidFill>
              </a:rPr>
              <a:t>Núcleo funcional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72000" y="3730752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</a:rPr>
              <a:t>RF-01 captura ambiental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</a:rPr>
              <a:t>RF-07 panel centralizado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</a:rPr>
              <a:t>RF-08 alertas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</a:rPr>
              <a:t>RF-13 / RF-16 apagado automático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</a:rPr>
              <a:t>RF-19 acceso por roles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92440" y="320040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3E9DC"/>
          </a:solidFill>
          <a:ln w="12700">
            <a:solidFill>
              <a:srgbClr val="F3E9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0" y="33649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791A"/>
                </a:solidFill>
              </a:rPr>
              <a:t>Requisitos legales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321040" y="374904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</a:rPr>
              <a:t>RF-24 y RF-25 derivan de los Art. 13 y 14 de la LOPDP, y desde esta unidad tienen caso de uso propio: CU-17.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6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E6E6E"/>
                </a:solidFill>
              </a:rPr>
              <a:t>Heredado de la Entrega 3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</a:rPr>
              <a:t>Contexto y casos de uso general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</a:rPr>
              <a:t>Clases refinadas (16 clases)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</a:rPr>
              <a:t>Secuencia y actividad (16 de cada uno)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</a:rPr>
              <a:t>Estados: Alerta y Solicitud de mantenimiento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</a:rPr>
              <a:t>Componentes y despliegue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</a:rPr>
              <a:t>Modelado organizacional i* (SD y SR)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32588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E6F0E4"/>
          </a:solidFill>
          <a:ln w="12700">
            <a:solidFill>
              <a:srgbClr val="E6F0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5087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6B36"/>
                </a:solidFill>
              </a:rPr>
              <a:t>Nuevo en la Unidad V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675120" y="2057400"/>
            <a:ext cx="411480" cy="411480"/>
          </a:xfrm>
          <a:prstGeom prst="ellipse">
            <a:avLst/>
          </a:prstGeom>
          <a:solidFill>
            <a:srgbClr val="1D6B36"/>
          </a:solidFill>
          <a:ln w="12700">
            <a:solidFill>
              <a:srgbClr val="1D6B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269480" y="2057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</a:rPr>
              <a:t>CU-17 — Ejercer derechos sobre datos personales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269480" y="25146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</a:rPr>
              <a:t>RF-24 y RF-25 colgaban de CU-11, que es gestión de acceso: otro propósito, otros actores, otros plazos.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3520440"/>
            <a:ext cx="411480" cy="411480"/>
          </a:xfrm>
          <a:prstGeom prst="ellipse">
            <a:avLst/>
          </a:prstGeom>
          <a:solidFill>
            <a:srgbClr val="1D6B36"/>
          </a:solidFill>
          <a:ln w="12700">
            <a:solidFill>
              <a:srgbClr val="1D6B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269480" y="3520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</a:rPr>
              <a:t>DFD nivel 1 — 8 procesos, 6 almacenes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269480" y="39776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</a:rPr>
              <a:t>Sin proceso DFD ninguna cadena de trazabilidad podía cerrarse: es la causa del 0 % inicial de M4 adelante.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6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Validación: la primera inspección formal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</a:rPr>
              <a:t>No existía registro de defectos de ninguna entrega anterior. Esta fue la primera inspección formal del ERS.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5029200"/>
                <a:gridCol w="13716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Defecto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Naturaleza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B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Inst.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B3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D-01  Prioridad MoSCoW contradictoria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El documento decía Should; el CSV, Must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3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D-02  RNF sin prioridad declarada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Atributo obligatorio ausente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12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D-05  Cero casos de prueba conceptual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Artefacto inexistente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25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D-10  Gherkin sin evento observable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Marcador de plantilla, no criterio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17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D-12  §6.1 y §6.4 con conjuntos distintos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Contradicción interna sobre el MVP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1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D-13  Connextra malformado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17 historias mal redactadas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17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0749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6F0E4"/>
          </a:solidFill>
          <a:ln w="12700">
            <a:solidFill>
              <a:srgbClr val="E6F0E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52578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</a:rPr>
              <a:t>15 defectos raíz · 72 instancias contables. 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</a:rPr>
              <a:t>Todos los que cuentan para la métrica de corrección quedaron cerrados.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6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de calidad: antes y después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108813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737360"/>
                <a:gridCol w="1737360"/>
                <a:gridCol w="1737360"/>
                <a:gridCol w="17373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Métrica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B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Antes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B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Después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B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Referencia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B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Cumple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B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M1a  Completitud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70,73 %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D6B36"/>
                          </a:solidFill>
                        </a:rPr>
                        <a:t>100 %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≥ 95 %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Sí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M1b  Completitud de CU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100 %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100 %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100 %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Sí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M1c  Cobertura de actores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100 %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100 %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100 %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Sí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M2   Consistencia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0,957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D6B36"/>
                          </a:solidFill>
                        </a:rPr>
                        <a:t>1,000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≥ 0,98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Sí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M3   Verificabilidad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100 %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100 %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≥ 90 %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Sí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M4a  Trazabilidad adelante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8791A"/>
                          </a:solidFill>
                        </a:rPr>
                        <a:t>0 %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D6B36"/>
                          </a:solidFill>
                        </a:rPr>
                        <a:t>100 %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≥ 90 %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Sí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M4b  Trazabilidad atrás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100 %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100 %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100 %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Sí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</a:rPr>
                        <a:t>M5   Modificabilidad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4,2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8791A"/>
                          </a:solidFill>
                        </a:rPr>
                        <a:t>4,2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≤ 3,0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8791A"/>
                          </a:solidFill>
                        </a:rPr>
                        <a:t>No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M6   Corrección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8791A"/>
                          </a:solidFill>
                        </a:rPr>
                        <a:t>1,76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D6B36"/>
                          </a:solidFill>
                        </a:rPr>
                        <a:t>0,00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≤ 0,05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</a:rPr>
                        <a:t>Sí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4864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3E9DC"/>
          </a:solidFill>
          <a:ln w="12700">
            <a:solidFill>
              <a:srgbClr val="F3E9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562356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</a:rPr>
              <a:t>M5 no cumple y no se maquilla: </a:t>
            </a:r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mide acoplamiento real del diseño; bajarlo exige rediseñar el modelo de dominio, no reescribir requisitos.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6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Trazabilidad end-to-end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</a:rPr>
              <a:t>Cadena completa de la plantilla 7.2, recorrible para las 48 filas de la matriz: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298448" cy="566928"/>
          </a:xfrm>
          <a:prstGeom prst="roundRect">
            <a:avLst>
              <a:gd name="adj" fmla="val 9677"/>
            </a:avLst>
          </a:prstGeom>
          <a:solidFill>
            <a:srgbClr val="F5F5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</a:rPr>
              <a:t>Fuente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938528" y="1691640"/>
            <a:ext cx="146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6E6E"/>
                </a:solidFill>
              </a:rPr>
              <a:t>›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84832" y="1691640"/>
            <a:ext cx="1298448" cy="566928"/>
          </a:xfrm>
          <a:prstGeom prst="roundRect">
            <a:avLst>
              <a:gd name="adj" fmla="val 9677"/>
            </a:avLst>
          </a:prstGeom>
          <a:solidFill>
            <a:srgbClr val="F5F5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84832" y="169164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</a:rPr>
              <a:t>RF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383280" y="1691640"/>
            <a:ext cx="146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6E6E"/>
                </a:solidFill>
              </a:rPr>
              <a:t>›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29584" y="1691640"/>
            <a:ext cx="1298448" cy="566928"/>
          </a:xfrm>
          <a:prstGeom prst="roundRect">
            <a:avLst>
              <a:gd name="adj" fmla="val 9677"/>
            </a:avLst>
          </a:prstGeom>
          <a:solidFill>
            <a:srgbClr val="F5F5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9584" y="169164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</a:rPr>
              <a:t>CU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28032" y="1691640"/>
            <a:ext cx="146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6E6E"/>
                </a:solidFill>
              </a:rPr>
              <a:t>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74336" y="1691640"/>
            <a:ext cx="1298448" cy="566928"/>
          </a:xfrm>
          <a:prstGeom prst="roundRect">
            <a:avLst>
              <a:gd name="adj" fmla="val 9677"/>
            </a:avLst>
          </a:prstGeom>
          <a:solidFill>
            <a:srgbClr val="F5F5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74336" y="169164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</a:rPr>
              <a:t>Clase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72784" y="1691640"/>
            <a:ext cx="146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6E6E"/>
                </a:solidFill>
              </a:rPr>
              <a:t>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19088" y="1691640"/>
            <a:ext cx="1298448" cy="566928"/>
          </a:xfrm>
          <a:prstGeom prst="roundRect">
            <a:avLst>
              <a:gd name="adj" fmla="val 9677"/>
            </a:avLst>
          </a:prstGeom>
          <a:solidFill>
            <a:srgbClr val="97BC6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169164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</a:rPr>
              <a:t>Proceso DFD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17536" y="1691640"/>
            <a:ext cx="146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6E6E"/>
                </a:solidFill>
              </a:rPr>
              <a:t>›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863840" y="1691640"/>
            <a:ext cx="1298448" cy="566928"/>
          </a:xfrm>
          <a:prstGeom prst="roundRect">
            <a:avLst>
              <a:gd name="adj" fmla="val 9677"/>
            </a:avLst>
          </a:prstGeom>
          <a:solidFill>
            <a:srgbClr val="F5F5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0" y="169164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</a:rPr>
              <a:t>Estado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162288" y="1691640"/>
            <a:ext cx="146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6E6E"/>
                </a:solidFill>
              </a:rPr>
              <a:t>›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308592" y="1691640"/>
            <a:ext cx="1298448" cy="566928"/>
          </a:xfrm>
          <a:prstGeom prst="roundRect">
            <a:avLst>
              <a:gd name="adj" fmla="val 9677"/>
            </a:avLst>
          </a:prstGeom>
          <a:solidFill>
            <a:srgbClr val="F5F5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08592" y="169164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</a:rPr>
              <a:t>BDD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0607040" y="1691640"/>
            <a:ext cx="146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6E6E"/>
                </a:solidFill>
              </a:rPr>
              <a:t>›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753344" y="1691640"/>
            <a:ext cx="1298448" cy="566928"/>
          </a:xfrm>
          <a:prstGeom prst="roundRect">
            <a:avLst>
              <a:gd name="adj" fmla="val 9677"/>
            </a:avLst>
          </a:prstGeom>
          <a:solidFill>
            <a:srgbClr val="97BC6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53344" y="169164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</a:rPr>
              <a:t>CP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23317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6E"/>
                </a:solidFill>
              </a:rPr>
              <a:t>En verde, las columnas que no existían en ningún archivo del proyecto antes de esta unidad.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288036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3017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6B36"/>
                </a:solidFill>
              </a:rPr>
              <a:t>48</a:t>
            </a:r>
            <a:endParaRPr lang="en-US" sz="4000" dirty="0"/>
          </a:p>
        </p:txBody>
      </p:sp>
      <p:sp>
        <p:nvSpPr>
          <p:cNvPr id="31" name="Text 29"/>
          <p:cNvSpPr/>
          <p:nvPr/>
        </p:nvSpPr>
        <p:spPr>
          <a:xfrm>
            <a:off x="868680" y="3657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</a:rPr>
              <a:t>filas en la matriz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68680" y="3977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</a:rPr>
              <a:t>25 RF + 6 RF de IA + 17 RNF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288536" y="288036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17136" y="3017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6B36"/>
                </a:solidFill>
              </a:rPr>
              <a:t>42</a:t>
            </a:r>
            <a:endParaRPr lang="en-US" sz="4000" dirty="0"/>
          </a:p>
        </p:txBody>
      </p:sp>
      <p:sp>
        <p:nvSpPr>
          <p:cNvPr id="35" name="Text 33"/>
          <p:cNvSpPr/>
          <p:nvPr/>
        </p:nvSpPr>
        <p:spPr>
          <a:xfrm>
            <a:off x="4517136" y="3657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</a:rPr>
              <a:t>casos de prueba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17136" y="3977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</a:rPr>
              <a:t>derivados de criterios reales del ERS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936992" y="288036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65592" y="3017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6B36"/>
                </a:solidFill>
              </a:rPr>
              <a:t>31</a:t>
            </a:r>
            <a:endParaRPr lang="en-US" sz="4000" dirty="0"/>
          </a:p>
        </p:txBody>
      </p:sp>
      <p:sp>
        <p:nvSpPr>
          <p:cNvPr id="39" name="Text 37"/>
          <p:cNvSpPr/>
          <p:nvPr/>
        </p:nvSpPr>
        <p:spPr>
          <a:xfrm>
            <a:off x="8165592" y="3657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</a:rPr>
              <a:t>huérfanos y cadenas rotas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165592" y="3977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</a:rPr>
              <a:t>24 enlazados · 7 justificados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080" y="48006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6F0E4"/>
          </a:solidFill>
          <a:ln w="12700">
            <a:solidFill>
              <a:srgbClr val="E6F0E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" y="498348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</a:rPr>
              <a:t>Un identificador no es una traza. </a:t>
            </a:r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Poner un caso de prueba en la matriz sin escribirlo habría sido un enlace «por si acaso»: hubo que redactar los 42 y verificar en ambos sentidos que todo CP citado existe y todo CP definido se usa.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6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Componentes de inteligencia artificial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5303520" cy="3657600"/>
          </a:xfrm>
          <a:prstGeom prst="roundRect">
            <a:avLst>
              <a:gd name="adj" fmla="val 2000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447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6B36"/>
                </a:solidFill>
              </a:rPr>
              <a:t>IA-01 · Predictor de fallas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17922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6E"/>
                </a:solidFill>
              </a:rPr>
              <a:t>refina RF-09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</a:rPr>
              <a:t>Clasificación binaria de riesgo a 7 días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</a:rPr>
              <a:t>RF-IA-01 a 03 · F1 ≥ 0,70 · latencia ≤ 2 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</a:rPr>
              <a:t>Equidad: ≤ 10 p.p. de diferencia en falsos negativos entre aulas de uso alto y bajo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</a:rPr>
              <a:t>Fallback: nunca crea el ticket; genera una alerta que un humano evalúa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0" y="1280160"/>
            <a:ext cx="5120640" cy="3657600"/>
          </a:xfrm>
          <a:prstGeom prst="roundRect">
            <a:avLst>
              <a:gd name="adj" fmla="val 2000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14447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6B36"/>
                </a:solidFill>
              </a:rPr>
              <a:t>IA-02 · Consumo energético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675120" y="179222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6E"/>
                </a:solidFill>
              </a:rPr>
              <a:t>refina RF-14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75120" y="214884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</a:rPr>
              <a:t>Detección de anomalías no supervisada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</a:rPr>
              <a:t>RF-IA-04 a 06 · falsos positivos ≤ 15 %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</a:rPr>
              <a:t>Equidad: no atribuye responsabilidad individual a un docente por consumo que no controla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</a:rPr>
              <a:t>Fallback: solo agrega una línea a un reporte que un humano revisa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51206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3E9DC"/>
          </a:solidFill>
          <a:ln w="12700">
            <a:solidFill>
              <a:srgbClr val="F3E9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3035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</a:rPr>
              <a:t>Clasificación de riesgo: </a:t>
            </a:r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</a:rPr>
              <a:t>ambos de riesgo mínimo/limitado. El Reglamento (UE) 2024/1689 se usa como marco de buenas prácticas, no como obligación: el sistema opera solo en Ecuador, sin nexo con la UE. La obligación legal real y aplicable es la LOPDP.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6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personales y seguridad física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447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6B36"/>
                </a:solidFill>
              </a:rPr>
              <a:t>Qué datos trata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</a:rPr>
              <a:t>Perfil y credenciales de usuario, y bitácora de acciones. La imagen de las cámaras se procesa solo para determinar presencia agregada: no se almacena, no hay reconocimiento facial, y por eso no constituye dato biométrico bajo el Art. 4 de la LOPDP.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0" y="128016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4447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6B36"/>
                </a:solidFill>
              </a:rPr>
              <a:t>Cómo se protegen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18288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</a:rPr>
              <a:t>Cifrado AES-256 (NFR-03)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</a:rPr>
              <a:t>Control de acceso por roles (RF-19)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</a:rPr>
              <a:t>Bitácora de auditoría (RF-23)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</a:rPr>
              <a:t>CU-17: derechos en ≤ 15 días hábiles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10881360" cy="2148840"/>
          </a:xfrm>
          <a:prstGeom prst="roundRect">
            <a:avLst>
              <a:gd name="adj" fmla="val 3404"/>
            </a:avLst>
          </a:prstGeom>
          <a:solidFill>
            <a:srgbClr val="E6F0E4"/>
          </a:solidFill>
          <a:ln w="12700">
            <a:solidFill>
              <a:srgbClr val="E6F0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9776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6B36"/>
                </a:solidFill>
              </a:rPr>
              <a:t>RNF-17 — Seguridad física (Safety), nuevo en esta unidad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60120" y="438912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El modelo de calidad no tenía ninguna característica Safety, pese a que el sistema emite comandos físicos de apagado sobre climatización. RNF-17 exige dos lecturas de presencia consecutivas separadas por 30 segundos antes de apagar; ante una lectura inconsistente o ausente no apaga, y genera una alerta de verificación fallida.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6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Lecciones aprendidas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655064"/>
            <a:ext cx="502920" cy="502920"/>
          </a:xfrm>
          <a:prstGeom prst="ellipse">
            <a:avLst/>
          </a:prstGeom>
          <a:solidFill>
            <a:srgbClr val="1D6B36"/>
          </a:solidFill>
          <a:ln w="12700">
            <a:solidFill>
              <a:srgbClr val="1D6B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55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45920" y="15087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</a:rPr>
              <a:t>Medir con datos reales cambia el diagnóstico en las dos direcciones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45920" y="189280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</a:rPr>
              <a:t>La verificabilidad resultó mejor de lo que suponíamos (100 %); la cobertura de fuentes de elicitación, peor.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889504"/>
            <a:ext cx="502920" cy="502920"/>
          </a:xfrm>
          <a:prstGeom prst="ellipse">
            <a:avLst/>
          </a:prstGeom>
          <a:solidFill>
            <a:srgbClr val="1D6B36"/>
          </a:solidFill>
          <a:ln w="12700">
            <a:solidFill>
              <a:srgbClr val="1D6B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8895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27432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</a:rPr>
              <a:t>Editar un artefacto sin sincronizar sus duplicados genera contradicciones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45920" y="312724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</a:rPr>
              <a:t>D-01 nació de tocar el CSV de priorización sin tocar el ERS.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123944"/>
            <a:ext cx="502920" cy="502920"/>
          </a:xfrm>
          <a:prstGeom prst="ellipse">
            <a:avLst/>
          </a:prstGeom>
          <a:solidFill>
            <a:srgbClr val="1D6B36"/>
          </a:solidFill>
          <a:ln w="12700">
            <a:solidFill>
              <a:srgbClr val="1D6B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123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45920" y="39776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</a:rPr>
              <a:t>Un identificador no es una traza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45920" y="436168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</a:rPr>
              <a:t>Escribir un CP en la matriz sin redactarlo habría sido un enlace vacío; hubo que redactar los 42.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02920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5358384"/>
            <a:ext cx="502920" cy="502920"/>
          </a:xfrm>
          <a:prstGeom prst="ellipse">
            <a:avLst/>
          </a:prstGeom>
          <a:solidFill>
            <a:srgbClr val="1D6B36"/>
          </a:solidFill>
          <a:ln w="12700">
            <a:solidFill>
              <a:srgbClr val="1D6B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358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45920" y="52120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</a:rPr>
              <a:t>La definición de una métrica pesa tanto como su cálculo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45920" y="559612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</a:rPr>
              <a:t>M1c pasó de 22 % a 100 % al corregir la definición operativa, no el documento.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6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queda abierto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791A"/>
                </a:solidFill>
              </a:rPr>
              <a:t>Se declara explícitamente, no se omite.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881360" cy="859536"/>
          </a:xfrm>
          <a:prstGeom prst="roundRect">
            <a:avLst>
              <a:gd name="adj" fmla="val 8511"/>
            </a:avLst>
          </a:prstGeom>
          <a:solidFill>
            <a:srgbClr val="F3E9DC"/>
          </a:solidFill>
          <a:ln w="12700">
            <a:solidFill>
              <a:srgbClr val="F3E9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0136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791A"/>
                </a:solidFill>
              </a:rPr>
              <a:t>M5 = 4,2 frente a un umbral de 3,0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13055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</a:rPr>
              <a:t>Acoplamiento real en CU-01 y CU-13; corregirlo exige rediseñar el modelo de dominio.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10881360" cy="859536"/>
          </a:xfrm>
          <a:prstGeom prst="roundRect">
            <a:avLst>
              <a:gd name="adj" fmla="val 8511"/>
            </a:avLst>
          </a:prstGeom>
          <a:solidFill>
            <a:srgbClr val="F3E9DC"/>
          </a:solidFill>
          <a:ln w="12700">
            <a:solidFill>
              <a:srgbClr val="F3E9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73405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791A"/>
                </a:solidFill>
              </a:rPr>
              <a:t>Re-inspección independiente pendiente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30632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</a:rPr>
              <a:t>El M6 = 0,00 significa «cero residuales de los registrados», no «documento sin defectos».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557016"/>
            <a:ext cx="10881360" cy="859536"/>
          </a:xfrm>
          <a:prstGeom prst="roundRect">
            <a:avLst>
              <a:gd name="adj" fmla="val 8511"/>
            </a:avLst>
          </a:prstGeom>
          <a:solidFill>
            <a:srgbClr val="F3E9DC"/>
          </a:solidFill>
          <a:ln w="12700">
            <a:solidFill>
              <a:srgbClr val="F3E9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666744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791A"/>
                </a:solidFill>
              </a:rPr>
              <a:t>Barrido semántico par a par no ejecutado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399592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</a:rPr>
              <a:t>Los 400 pares RF↔RNF no se revisaron uno a uno buscando contradicciones de contenido.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489704"/>
            <a:ext cx="10881360" cy="859536"/>
          </a:xfrm>
          <a:prstGeom prst="roundRect">
            <a:avLst>
              <a:gd name="adj" fmla="val 8511"/>
            </a:avLst>
          </a:prstGeom>
          <a:solidFill>
            <a:srgbClr val="F3E9DC"/>
          </a:solidFill>
          <a:ln w="12700">
            <a:solidFill>
              <a:srgbClr val="F3E9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59943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791A"/>
                </a:solidFill>
              </a:rPr>
              <a:t>Siete de los nueve actores sin entrevistar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492861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</a:rPr>
              <a:t>Nunca fueron fuente de un requisito; es una limitación de validez externa.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5422392"/>
            <a:ext cx="10881360" cy="859536"/>
          </a:xfrm>
          <a:prstGeom prst="roundRect">
            <a:avLst>
              <a:gd name="adj" fmla="val 8511"/>
            </a:avLst>
          </a:prstGeom>
          <a:solidFill>
            <a:srgbClr val="F3E9DC"/>
          </a:solidFill>
          <a:ln w="12700">
            <a:solidFill>
              <a:srgbClr val="F3E9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55321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791A"/>
                </a:solidFill>
              </a:rPr>
              <a:t>Nueve RNF sin validación de campo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5861304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</a:rPr>
              <a:t>Marcados como «no verificado» en la Tabla 39 del ERS, no como validados.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D6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37744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0" y="342900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7BC62"/>
                </a:solidFill>
              </a:rPr>
              <a:t>github.com/gsanchezc6-beep/SIGA_FGMMN_PEV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402336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Informe final · ERS v4.0 · matriz de trazabilidad · 42 casos de prueba · fichas de IA · anexo de auditoría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SIGA - Defensa PE5</dc:title>
  <dc:subject>PptxGenJS Presentation</dc:subject>
  <dc:creator>Equipo FGMMN</dc:creator>
  <cp:lastModifiedBy>Equipo FGMMN</cp:lastModifiedBy>
  <cp:revision>1</cp:revision>
  <dcterms:created xsi:type="dcterms:W3CDTF">2026-08-23T22:32:52Z</dcterms:created>
  <dcterms:modified xsi:type="dcterms:W3CDTF">2026-08-23T22:32:52Z</dcterms:modified>
</cp:coreProperties>
</file>